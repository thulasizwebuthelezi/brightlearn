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1"/>
  </p:normalViewPr>
  <p:slideViewPr>
    <p:cSldViewPr snapToGrid="0" snapToObjects="1">
      <p:cViewPr varScale="1">
        <p:scale>
          <a:sx n="91" d="100"/>
          <a:sy n="91" d="100"/>
        </p:scale>
        <p:origin x="192" y="7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77639" y="0"/>
            <a:ext cx="45720" cy="68580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8B54A"/>
                </a:solidFill>
                <a:latin typeface="Arial"/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Arial"/>
              </a:rPr>
              <a:t>Bright Motors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6576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Car Sales
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33832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Arial"/>
              </a:rPr>
              <a:t>Business insights for the
new Head of 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46320"/>
            <a:ext cx="365760" cy="36576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3657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9AA8CC"/>
                </a:solidFill>
                <a:latin typeface="Arial"/>
              </a:rPr>
              <a:t>Prepared by: </a:t>
            </a:r>
            <a:r>
              <a:rPr lang="en-US" sz="1100" dirty="0">
                <a:solidFill>
                  <a:srgbClr val="9AA8CC"/>
                </a:solidFill>
                <a:latin typeface="Arial"/>
              </a:rPr>
              <a:t>Thulasizwe Buthelezi</a:t>
            </a:r>
            <a:endParaRPr sz="1100" b="0" dirty="0">
              <a:solidFill>
                <a:srgbClr val="9AA8CC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8CC"/>
                </a:solidFill>
                <a:latin typeface="Arial"/>
              </a:rPr>
              <a:t>Dataset: Bright Car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822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8B54A"/>
                </a:solidFill>
                <a:latin typeface="Arial"/>
              </a:rPr>
              <a:t>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280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559K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Total cars sold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280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$8B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Total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918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Regions covered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918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Distinct car makes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5486400"/>
            <a:ext cx="713232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55321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A data-driven roadmap to grow the dealership network,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8978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lift sales performance and optimise inventory.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40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17320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8CC"/>
                </a:solidFill>
                <a:latin typeface="Arial"/>
              </a:rPr>
              <a:t>About Bright Motors and the analysis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8"/>
            <a:ext cx="640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92808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Objectives &amp;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892808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8CC"/>
                </a:solidFill>
                <a:latin typeface="Arial"/>
              </a:rPr>
              <a:t>What the new Head of Sales needs to know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68296"/>
            <a:ext cx="640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68296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Sales channels &amp; product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68296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8CC"/>
                </a:solidFill>
                <a:latin typeface="Arial"/>
              </a:rPr>
              <a:t>Headline KPIs from the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43784"/>
            <a:ext cx="640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43784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WHERE — regional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843784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8CC"/>
                </a:solidFill>
                <a:latin typeface="Arial"/>
              </a:rPr>
              <a:t>Top revenue and sales states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19272"/>
            <a:ext cx="640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19272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— winning makes, models &amp; body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319272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8CC"/>
                </a:solidFill>
                <a:latin typeface="Arial"/>
              </a:rPr>
              <a:t>Where the money comes 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94760"/>
            <a:ext cx="640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6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WHO — customer preferences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794760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8CC"/>
                </a:solidFill>
                <a:latin typeface="Arial"/>
              </a:rPr>
              <a:t>Colour, transmission and price tiers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70248"/>
            <a:ext cx="640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Arial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70248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HOW — price, mileage &amp; condition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270248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8CC"/>
                </a:solidFill>
                <a:latin typeface="Arial"/>
              </a:rPr>
              <a:t>Relationship across pricing levers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45736"/>
            <a:ext cx="640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Arial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45736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WHEN — timing of sales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745736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8CC"/>
                </a:solidFill>
                <a:latin typeface="Arial"/>
              </a:rPr>
              <a:t>Month, day and time-of-day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21224"/>
            <a:ext cx="640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Arial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21224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WHY — emerging trends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221224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8CC"/>
                </a:solidFill>
                <a:latin typeface="Arial"/>
              </a:rPr>
              <a:t>Manufacturing year &amp; seller channel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96712"/>
            <a:ext cx="640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Arial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696712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Recommendations &amp; next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696712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8CC"/>
                </a:solidFill>
                <a:latin typeface="Arial"/>
              </a:rPr>
              <a:t>Actions to grow profitability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About Bright Motors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400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>
                <a:solidFill>
                  <a:srgbClr val="CADCFC"/>
                </a:solidFill>
                <a:latin typeface="Arial"/>
              </a:rPr>
              <a:t>•  Bright Motors is a multi-region car dealership selling new and used vehicles across 38 regions.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>
                <a:solidFill>
                  <a:srgbClr val="CADCFC"/>
                </a:solidFill>
                <a:latin typeface="Arial"/>
              </a:rPr>
              <a:t>•  A new Head of Sales has been appointed with a mandate to expand the dealership network, lift sales performance and optimise inventory.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>
                <a:solidFill>
                  <a:srgbClr val="CADCFC"/>
                </a:solidFill>
                <a:latin typeface="Arial"/>
              </a:rPr>
              <a:t>•  The Bright Car Sales dataset captures daily transactional and pricing data across 559,000 vehicle sales.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>
                <a:solidFill>
                  <a:srgbClr val="CADCFC"/>
                </a:solidFill>
                <a:latin typeface="Arial"/>
              </a:rPr>
              <a:t>•  This presentation translates that historical data into actionable insights to guide future sales and marketing strategy.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554480"/>
            <a:ext cx="4206240" cy="4206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16916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8B54A"/>
                </a:solidFill>
                <a:latin typeface="Arial"/>
              </a:rPr>
              <a:t>DATASET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488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559K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788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CC"/>
                </a:solidFill>
                <a:latin typeface="Arial"/>
              </a:rPr>
              <a:t>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1488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$8B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788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CC"/>
                </a:solidFill>
                <a:latin typeface="Arial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2918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931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CC"/>
                </a:solidFill>
                <a:latin typeface="Arial"/>
              </a:rPr>
              <a:t>Makes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2918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852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931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CC"/>
                </a:solidFill>
                <a:latin typeface="Arial"/>
              </a:rPr>
              <a:t>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4348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74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CC"/>
                </a:solidFill>
                <a:latin typeface="Arial"/>
              </a:rPr>
              <a:t>Regions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4348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14K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5074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AA8CC"/>
                </a:solidFill>
                <a:latin typeface="Arial"/>
              </a:rPr>
              <a:t>Sellers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What we set out to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371600" cy="6858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19072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Which makes, models &amp; body types generate the most revenue?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1371600" cy="6858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58775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587752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Which regions deliver the highest sales volume and revenue?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1371600" cy="6858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5643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456432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How are price, mileage and year of manufacture related?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1371600" cy="6858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32511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325112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What seasonal and weekly patterns drive sales timing?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29200"/>
            <a:ext cx="1371600" cy="6858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19379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WHY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193792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What emerging customer preferences should we lean into?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HEADLINE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Sales channels &amp; product mix</a:t>
            </a:r>
          </a:p>
        </p:txBody>
      </p:sp>
      <p:pic>
        <p:nvPicPr>
          <p:cNvPr id="6" name="Picture 5" descr="p1_kpis.png"/>
          <p:cNvPicPr>
            <a:picLocks noChangeAspect="1"/>
          </p:cNvPicPr>
          <p:nvPr/>
        </p:nvPicPr>
        <p:blipFill>
          <a:blip r:embed="rId2"/>
          <a:srcRect l="22951"/>
          <a:stretch>
            <a:fillRect/>
          </a:stretch>
        </p:blipFill>
        <p:spPr>
          <a:xfrm>
            <a:off x="1195754" y="1301498"/>
            <a:ext cx="8665698" cy="8579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0166" y="2289280"/>
            <a:ext cx="11247120" cy="3291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5671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8B54A"/>
                </a:solidFill>
                <a:latin typeface="Arial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8408"/>
            <a:ext cx="10972800" cy="124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dirty="0">
                <a:solidFill>
                  <a:srgbClr val="FFFFFF"/>
                </a:solidFill>
                <a:latin typeface="Arial"/>
              </a:rPr>
              <a:t>•  559K transactions and $8B in revenue across 38 regions confirm strong national reach.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dirty="0">
                <a:solidFill>
                  <a:srgbClr val="FFFFFF"/>
                </a:solidFill>
                <a:latin typeface="Arial"/>
              </a:rPr>
              <a:t>•  A wide catalogue (57 makes, 852 models, 46 body types) means inventory complexity — a chance to rationalize the long tail.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dirty="0">
                <a:solidFill>
                  <a:srgbClr val="FFFFFF"/>
                </a:solidFill>
                <a:latin typeface="Arial"/>
              </a:rPr>
              <a:t>•  Customer preference is concentrated: only 21 colors, 18 interiors and </a:t>
            </a:r>
            <a:r>
              <a:rPr lang="en-US" sz="1400" dirty="0">
                <a:solidFill>
                  <a:srgbClr val="FFFFFF"/>
                </a:solidFill>
                <a:latin typeface="Arial"/>
              </a:rPr>
              <a:t>3 </a:t>
            </a:r>
            <a:r>
              <a:rPr sz="1400" dirty="0">
                <a:solidFill>
                  <a:srgbClr val="FFFFFF"/>
                </a:solidFill>
                <a:latin typeface="Arial"/>
              </a:rPr>
              <a:t>transmission types do all the work.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dirty="0">
                <a:solidFill>
                  <a:srgbClr val="FFFFFF"/>
                </a:solidFill>
                <a:latin typeface="Arial"/>
              </a:rPr>
              <a:t>•  14K sellers participated; the top 10 sellers generate a disproportionate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Regional performance — top revenue &amp; sales states</a:t>
            </a:r>
          </a:p>
        </p:txBody>
      </p:sp>
      <p:pic>
        <p:nvPicPr>
          <p:cNvPr id="6" name="Picture 5" descr="rev_state.png"/>
          <p:cNvPicPr>
            <a:picLocks noChangeAspect="1"/>
          </p:cNvPicPr>
          <p:nvPr/>
        </p:nvPicPr>
        <p:blipFill>
          <a:blip r:embed="rId2"/>
          <a:srcRect t="7946"/>
          <a:stretch>
            <a:fillRect/>
          </a:stretch>
        </p:blipFill>
        <p:spPr>
          <a:xfrm>
            <a:off x="274320" y="1508760"/>
            <a:ext cx="5577840" cy="3177646"/>
          </a:xfrm>
          <a:prstGeom prst="rect">
            <a:avLst/>
          </a:prstGeom>
        </p:spPr>
      </p:pic>
      <p:pic>
        <p:nvPicPr>
          <p:cNvPr id="7" name="Picture 6" descr="sales_region.png"/>
          <p:cNvPicPr>
            <a:picLocks noChangeAspect="1"/>
          </p:cNvPicPr>
          <p:nvPr/>
        </p:nvPicPr>
        <p:blipFill>
          <a:blip r:embed="rId3"/>
          <a:srcRect t="12895"/>
          <a:stretch>
            <a:fillRect/>
          </a:stretch>
        </p:blipFill>
        <p:spPr>
          <a:xfrm>
            <a:off x="5943600" y="1508760"/>
            <a:ext cx="5577840" cy="3177646"/>
          </a:xfrm>
          <a:prstGeom prst="rect">
            <a:avLst/>
          </a:prstGeom>
          <a:ln w="9525">
            <a:solidFill>
              <a:schemeClr val="bg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65760" y="1344168"/>
            <a:ext cx="5396062" cy="17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E8B54A"/>
                </a:solidFill>
                <a:latin typeface="Arial"/>
              </a:rPr>
              <a:t>Revenue by state (Top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280160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E8B54A"/>
                </a:solidFill>
                <a:latin typeface="Arial"/>
              </a:rPr>
              <a:t>Sales volume by region (Top 10)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KEY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Arial"/>
              </a:rPr>
              <a:t>•  Florida and California lead on both revenue (~$1.1B &amp; $1.05B) and sales volume — anchor markets to defend.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Arial"/>
              </a:rPr>
              <a:t>•  Pennsylvania, Texas and Georgia round out the top 5 — strong candidates for dealership expansion.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Arial"/>
              </a:rPr>
              <a:t>•  Top 5 states drive ~50% of total revenue → opportunity to grow share in mid-tier states (NJ, IL, OH, TN).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  <a:latin typeface="Arial"/>
              </a:rPr>
              <a:t>Winning makes, models &amp; body types</a:t>
            </a:r>
          </a:p>
        </p:txBody>
      </p:sp>
      <p:pic>
        <p:nvPicPr>
          <p:cNvPr id="6" name="Picture 5" descr="rev_m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" y="1024128"/>
            <a:ext cx="5809957" cy="2543843"/>
          </a:xfrm>
          <a:prstGeom prst="rect">
            <a:avLst/>
          </a:prstGeom>
        </p:spPr>
      </p:pic>
      <p:pic>
        <p:nvPicPr>
          <p:cNvPr id="7" name="Picture 6" descr="rev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123" y="911010"/>
            <a:ext cx="5809957" cy="2656961"/>
          </a:xfrm>
          <a:prstGeom prst="rect">
            <a:avLst/>
          </a:prstGeom>
        </p:spPr>
      </p:pic>
      <p:pic>
        <p:nvPicPr>
          <p:cNvPr id="8" name="Picture 7" descr="rev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8" y="3681088"/>
            <a:ext cx="5772442" cy="27197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39841" y="3670669"/>
            <a:ext cx="5772442" cy="2730131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4023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8B54A"/>
                </a:solidFill>
                <a:latin typeface="Arial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389120"/>
            <a:ext cx="4663440" cy="11508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dirty="0">
                <a:solidFill>
                  <a:srgbClr val="FFFFFF"/>
                </a:solidFill>
                <a:latin typeface="Arial"/>
              </a:rPr>
              <a:t>•  Ford alone drives ~$1.35B in revenue (almost 2× Chevrolet).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dirty="0">
                <a:solidFill>
                  <a:srgbClr val="FFFFFF"/>
                </a:solidFill>
                <a:latin typeface="Arial"/>
              </a:rPr>
              <a:t>•  F-150 and Altima are the top revenue-generating models.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dirty="0">
                <a:solidFill>
                  <a:srgbClr val="FFFFFF"/>
                </a:solidFill>
                <a:latin typeface="Arial"/>
              </a:rPr>
              <a:t>•  Sedan and SUV body types deliver ~$5.2B — about 65% of total revenue.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dirty="0">
                <a:solidFill>
                  <a:srgbClr val="FFFFFF"/>
                </a:solidFill>
                <a:latin typeface="Arial"/>
              </a:rPr>
              <a:t>•  The long tail of 46 body types produces minimal returns — rationalize.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WHO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Customer preferences — colour, transmission &amp; price</a:t>
            </a:r>
          </a:p>
        </p:txBody>
      </p:sp>
      <p:pic>
        <p:nvPicPr>
          <p:cNvPr id="6" name="Picture 5" descr="rev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090464" cy="3644925"/>
          </a:xfrm>
          <a:prstGeom prst="rect">
            <a:avLst/>
          </a:prstGeom>
        </p:spPr>
      </p:pic>
      <p:pic>
        <p:nvPicPr>
          <p:cNvPr id="7" name="Picture 6" descr="rev_tr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373" y="1157756"/>
            <a:ext cx="3195978" cy="2134083"/>
          </a:xfrm>
          <a:prstGeom prst="rect">
            <a:avLst/>
          </a:prstGeom>
        </p:spPr>
      </p:pic>
      <p:pic>
        <p:nvPicPr>
          <p:cNvPr id="8" name="Picture 7" descr="sales_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034" y="2259970"/>
            <a:ext cx="3195978" cy="2289513"/>
          </a:xfrm>
          <a:prstGeom prst="rect">
            <a:avLst/>
          </a:prstGeom>
          <a:ln w="9525">
            <a:solidFill>
              <a:schemeClr val="bg1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457200" y="4960964"/>
            <a:ext cx="11247120" cy="143983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WHAT CUSTOMERS PICK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Arial"/>
              </a:rPr>
              <a:t>•  Black, white and grey/silver vehicles drive 70%+ of revenue — stock these neutrals first.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Arial"/>
              </a:rPr>
              <a:t>•  Automatic transmission accounts for 84.7% of revenue; manual is a niche 2.6%.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Arial"/>
              </a:rPr>
              <a:t>•  Mid-priced cars ($10K–$20K) are the sweet spot at 40.7% of sales — premium tier ($20K+) adds another 20.6%.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Price, mileage &amp; condition relationship</a:t>
            </a:r>
          </a:p>
        </p:txBody>
      </p:sp>
      <p:pic>
        <p:nvPicPr>
          <p:cNvPr id="6" name="Picture 5" descr="rev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38196"/>
            <a:ext cx="7315200" cy="4173884"/>
          </a:xfrm>
          <a:prstGeom prst="rect">
            <a:avLst/>
          </a:prstGeom>
        </p:spPr>
      </p:pic>
      <p:pic>
        <p:nvPicPr>
          <p:cNvPr id="7" name="Picture 6" descr="rev_c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38196"/>
            <a:ext cx="4389120" cy="291482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5120640"/>
            <a:ext cx="1138428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Arial"/>
              </a:rPr>
              <a:t>•  Revenue concentrates between 20K–60K miles — the optimal mileage band for resale.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Arial"/>
              </a:rPr>
              <a:t>•  ‘Good condition’ (30K–99K km) generates 49.9% of revenue; ‘New’ (&lt;30K km) adds 40.6% → 90% from low-to-mid mileage stock.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Arial"/>
              </a:rPr>
              <a:t>•  High-mileage vehicles (100K+) deliver under 10% of revenue → reduce purchase exposure on aged inventory.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Seasonal, weekly and time-of-day patterns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8119" y="4099198"/>
            <a:ext cx="8040271" cy="2651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92133" y="420238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E8B54A"/>
                </a:solidFill>
                <a:latin typeface="Arial"/>
              </a:rPr>
              <a:t>TIMING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8" y="4663440"/>
            <a:ext cx="7680961" cy="89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dirty="0">
                <a:solidFill>
                  <a:srgbClr val="FFFFFF"/>
                </a:solidFill>
                <a:latin typeface="Arial"/>
              </a:rPr>
              <a:t>•  Revenue peaks in Feb–Jan (&gt;$2B) then falls sharply through Apr — front-load marketing in Q1.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dirty="0">
                <a:solidFill>
                  <a:srgbClr val="FFFFFF"/>
                </a:solidFill>
                <a:latin typeface="Arial"/>
              </a:rPr>
              <a:t>•  Wednesday → Friday account for nearly all weekly sales; weekends are dormant — staffing &amp; promos should shift mid-week.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dirty="0">
                <a:solidFill>
                  <a:srgbClr val="FFFFFF"/>
                </a:solidFill>
                <a:latin typeface="Arial"/>
              </a:rPr>
              <a:t>•  72.8% of sales close in midnight/dawn hours (auction-style flows) — invest in 24/7 listing infrastructure.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045" y="6126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10 / 13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BE0736-83C5-B3DF-8219-D8641FA90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2" y="1024128"/>
            <a:ext cx="6609189" cy="30750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B572F9-7976-89C1-DB00-8BF2249B6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491" y="1005839"/>
            <a:ext cx="5295900" cy="30933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0BDD80-3885-5A71-BE8C-6AB4085FB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45" y="4099198"/>
            <a:ext cx="3842043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Emerging trends — manufacturing year &amp; seller mix</a:t>
            </a:r>
          </a:p>
        </p:txBody>
      </p:sp>
      <p:pic>
        <p:nvPicPr>
          <p:cNvPr id="6" name="Picture 5" descr="rev_mfg.png"/>
          <p:cNvPicPr>
            <a:picLocks noChangeAspect="1"/>
          </p:cNvPicPr>
          <p:nvPr/>
        </p:nvPicPr>
        <p:blipFill>
          <a:blip r:embed="rId2"/>
          <a:srcRect r="17653"/>
          <a:stretch>
            <a:fillRect/>
          </a:stretch>
        </p:blipFill>
        <p:spPr>
          <a:xfrm>
            <a:off x="0" y="1062790"/>
            <a:ext cx="7275576" cy="34634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588381"/>
            <a:ext cx="12161520" cy="1514637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696249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E8B54A"/>
                </a:solidFill>
                <a:latin typeface="Arial"/>
              </a:rPr>
              <a:t>TRENDS WORTH ACTING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2" y="489433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dirty="0">
                <a:solidFill>
                  <a:srgbClr val="FFFFFF"/>
                </a:solidFill>
                <a:latin typeface="Arial"/>
              </a:rPr>
              <a:t>•  Sales of newer model years (2010+) are accelerating sharply while average mileage trends down — buyers are moving to younger stock.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dirty="0">
                <a:solidFill>
                  <a:srgbClr val="FFFFFF"/>
                </a:solidFill>
                <a:latin typeface="Arial"/>
              </a:rPr>
              <a:t>•  Older inventory (pre-2000, peak avg mileage ~175K km) generates very little revenue — phase out aggressive sourcing here.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dirty="0">
                <a:solidFill>
                  <a:srgbClr val="FFFFFF"/>
                </a:solidFill>
                <a:latin typeface="Arial"/>
              </a:rPr>
              <a:t>•  Top 10 sellers (Nissan Infiniti LT, Ford Motor Credit, Hertz, Santander, Avis) supply &gt;130K units — deepen these partnerships and negotiate volume terms.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11 / 13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7036D4-8FB3-2C30-EE56-50BE000F6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932" y="1062789"/>
            <a:ext cx="4850588" cy="35185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73152" cy="36576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8B54A"/>
                </a:solidFill>
                <a:latin typeface="Arial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How to grow profitability &amp;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173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Expand dealership footprint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83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Arial"/>
              </a:rPr>
              <a:t>Open or franchise in PA, TX, GA, NJ — proven demand, top-10 revenue states with room to grow.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Rationalise inventory mix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603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Arial"/>
              </a:rPr>
              <a:t>Lead with Ford, Chevrolet, Nissan, Toyota in Sedan &amp; SUV body types — together &gt;60% of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044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Stock the resale sweet spot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3756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Arial"/>
              </a:rPr>
              <a:t>Prioritise vehicles 20K–60K miles, model years 2010+, in black/white/grey — matches actual buyer behaviour.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822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4904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Time the marketing 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11480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Arial"/>
              </a:rPr>
              <a:t>Concentrate campaigns in Jan–Feb, Wed–Fri, with always-on overnight listings — when 70%+ of sales actually close.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599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5262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Deepen seller partnerships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9204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Arial"/>
              </a:rPr>
              <a:t>Negotiate preferred-supply agreements with the top 10 wholesalers to lock in volume and margin.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376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E1B3D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3035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Phase out low-margin 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6692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Arial"/>
              </a:rPr>
              <a:t>Reduce sourcing of high-mileage (&gt;100K km) and pre-2000 inventory — &lt;10% of revenue, drag on working capital.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8CC"/>
                </a:solidFill>
                <a:latin typeface="Arial"/>
              </a:rPr>
              <a:t>Bright Motors  |  Car Sales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9AA8CC"/>
                </a:solidFill>
                <a:latin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CADCFC"/>
                </a:solidFill>
                <a:latin typeface="Arial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9AA8CC"/>
                </a:solidFill>
                <a:latin typeface="Arial"/>
              </a:rPr>
              <a:t>Bright Motors  |  Car Sales Analysis  |  Prepared for the Head of 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1183</Words>
  <Application>Microsoft Macintosh PowerPoint</Application>
  <PresentationFormat>Widescreen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BUTHELEZI, Thulasizwe John</cp:lastModifiedBy>
  <cp:revision>2</cp:revision>
  <dcterms:created xsi:type="dcterms:W3CDTF">2013-01-27T09:14:16Z</dcterms:created>
  <dcterms:modified xsi:type="dcterms:W3CDTF">2026-05-10T18:37:35Z</dcterms:modified>
  <cp:category/>
</cp:coreProperties>
</file>